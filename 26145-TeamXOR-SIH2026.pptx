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b.ca/cic/datasets/modbus-2023.html" TargetMode="External"/><Relationship Id="rId13" Type="http://schemas.openxmlformats.org/officeDocument/2006/relationships/hyperlink" Target="https://virustotal.github.io/yara/" TargetMode="External"/><Relationship Id="rId18" Type="http://schemas.openxmlformats.org/officeDocument/2006/relationships/hyperlink" Target="https://scikit-learn.org" TargetMode="External"/><Relationship Id="rId3" Type="http://schemas.openxmlformats.org/officeDocument/2006/relationships/image" Target="../media/image3.jpeg"/><Relationship Id="rId21" Type="http://schemas.openxmlformats.org/officeDocument/2006/relationships/hyperlink" Target="https://doi.org/10.6028/NIST.SP.800-82r3" TargetMode="External"/><Relationship Id="rId7" Type="http://schemas.openxmlformats.org/officeDocument/2006/relationships/hyperlink" Target="https://github.com/ITI/ICS-Security-Tools" TargetMode="External"/><Relationship Id="rId12" Type="http://schemas.openxmlformats.org/officeDocument/2006/relationships/hyperlink" Target="https://rules.emergingthreats.net" TargetMode="External"/><Relationship Id="rId17" Type="http://schemas.openxmlformats.org/officeDocument/2006/relationships/hyperlink" Target="https://xgboost.ai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onnxruntime.ai" TargetMode="External"/><Relationship Id="rId20" Type="http://schemas.openxmlformats.org/officeDocument/2006/relationships/hyperlink" Target="https://attack.mitre.org/matrices/ic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unb.ca/cic/datasets/ids-2017.html" TargetMode="External"/><Relationship Id="rId11" Type="http://schemas.openxmlformats.org/officeDocument/2006/relationships/hyperlink" Target="https://suricata.io" TargetMode="External"/><Relationship Id="rId24" Type="http://schemas.openxmlformats.org/officeDocument/2006/relationships/image" Target="../media/image4.png"/><Relationship Id="rId5" Type="http://schemas.openxmlformats.org/officeDocument/2006/relationships/hyperlink" Target="https://github.com/StopDDoS/packet-captures" TargetMode="External"/><Relationship Id="rId15" Type="http://schemas.openxmlformats.org/officeDocument/2006/relationships/hyperlink" Target="https://github.com/FoxIO-LLC/ja4" TargetMode="External"/><Relationship Id="rId23" Type="http://schemas.openxmlformats.org/officeDocument/2006/relationships/hyperlink" Target="https://modbus.org/specs.php" TargetMode="External"/><Relationship Id="rId10" Type="http://schemas.openxmlformats.org/officeDocument/2006/relationships/hyperlink" Target="https://github.com/cisagov/ICSNPP" TargetMode="External"/><Relationship Id="rId19" Type="http://schemas.openxmlformats.org/officeDocument/2006/relationships/hyperlink" Target="https://attack.mitre.org" TargetMode="External"/><Relationship Id="rId4" Type="http://schemas.openxmlformats.org/officeDocument/2006/relationships/hyperlink" Target="https://github.com/chrmor/DGA_domains_dataset" TargetMode="External"/><Relationship Id="rId9" Type="http://schemas.openxmlformats.org/officeDocument/2006/relationships/hyperlink" Target="https://zeek.org/" TargetMode="External"/><Relationship Id="rId14" Type="http://schemas.openxmlformats.org/officeDocument/2006/relationships/hyperlink" Target="https://github.com/mitre-attack/bzar" TargetMode="External"/><Relationship Id="rId22" Type="http://schemas.openxmlformats.org/officeDocument/2006/relationships/hyperlink" Target="https://standards.ieee.org/ieee/1815/54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11611" y="2686971"/>
            <a:ext cx="9310278" cy="624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sz="3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26145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AI-Based Detection of Cyber Threats in Unidirectional IP Traffic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Team Name :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TeamXOR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2105025"/>
            <a:ext cx="11536023" cy="728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marL="723901" lvl="1" indent="-361950" algn="just">
              <a:lnSpc>
                <a:spcPts val="548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marL="1122697" lvl="2" indent="-374232" algn="just">
              <a:lnSpc>
                <a:spcPts val="3562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secure, read-only AI pipeline that detects and scores threats purely from network metadata without ever decrypting payloads.</a:t>
            </a:r>
          </a:p>
          <a:p>
            <a:pPr algn="just">
              <a:lnSpc>
                <a:spcPts val="3836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3901" lvl="1" indent="-361950" algn="just">
              <a:lnSpc>
                <a:spcPts val="548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marL="1122697" lvl="2" indent="-374232" algn="l">
              <a:lnSpc>
                <a:spcPts val="3562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processes four different data ingest paths through a single, near realtime detection stack that outputs directly to a MITRE mapped dashboard.</a:t>
            </a:r>
          </a:p>
          <a:p>
            <a:pPr marL="723901" lvl="1" indent="-361950" algn="just">
              <a:lnSpc>
                <a:spcPts val="548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  <a:p>
            <a:pPr marL="1122697" lvl="2" indent="-374232" algn="just">
              <a:lnSpc>
                <a:spcPts val="3562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 specialized mechanisms per threat, hybrid ML to prevent train/serve skew, and JA4 TLS fingerprinting for advanced zero-decryption analysis.</a:t>
            </a:r>
          </a:p>
          <a:p>
            <a:pPr algn="just">
              <a:lnSpc>
                <a:spcPts val="312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 - TeamXOR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TeamXOR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614582" y="2718610"/>
            <a:ext cx="7673418" cy="5091890"/>
          </a:xfrm>
          <a:custGeom>
            <a:avLst/>
            <a:gdLst/>
            <a:ahLst/>
            <a:cxnLst/>
            <a:rect l="l" t="t" r="r" b="b"/>
            <a:pathLst>
              <a:path w="7673418" h="5083396">
                <a:moveTo>
                  <a:pt x="0" y="0"/>
                </a:moveTo>
                <a:lnTo>
                  <a:pt x="7673418" y="0"/>
                </a:lnTo>
                <a:lnTo>
                  <a:pt x="7673418" y="5083397"/>
                </a:lnTo>
                <a:lnTo>
                  <a:pt x="0" y="5083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85" t="-15845" b="-4201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 - TeamXOR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TeamXOR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3521766" y="2149855"/>
            <a:ext cx="2982493" cy="1674728"/>
          </a:xfrm>
          <a:custGeom>
            <a:avLst/>
            <a:gdLst/>
            <a:ahLst/>
            <a:cxnLst/>
            <a:rect l="l" t="t" r="r" b="b"/>
            <a:pathLst>
              <a:path w="2982493" h="1674728">
                <a:moveTo>
                  <a:pt x="0" y="0"/>
                </a:moveTo>
                <a:lnTo>
                  <a:pt x="2982493" y="0"/>
                </a:lnTo>
                <a:lnTo>
                  <a:pt x="2982493" y="1674728"/>
                </a:lnTo>
                <a:lnTo>
                  <a:pt x="0" y="1674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61212" y="3643909"/>
            <a:ext cx="2096726" cy="1310454"/>
          </a:xfrm>
          <a:custGeom>
            <a:avLst/>
            <a:gdLst/>
            <a:ahLst/>
            <a:cxnLst/>
            <a:rect l="l" t="t" r="r" b="b"/>
            <a:pathLst>
              <a:path w="2096726" h="1310454">
                <a:moveTo>
                  <a:pt x="0" y="0"/>
                </a:moveTo>
                <a:lnTo>
                  <a:pt x="2096726" y="0"/>
                </a:lnTo>
                <a:lnTo>
                  <a:pt x="2096726" y="1310454"/>
                </a:lnTo>
                <a:lnTo>
                  <a:pt x="0" y="131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636993" y="4685024"/>
            <a:ext cx="2752039" cy="1441380"/>
          </a:xfrm>
          <a:custGeom>
            <a:avLst/>
            <a:gdLst/>
            <a:ahLst/>
            <a:cxnLst/>
            <a:rect l="l" t="t" r="r" b="b"/>
            <a:pathLst>
              <a:path w="2752039" h="1441380">
                <a:moveTo>
                  <a:pt x="0" y="0"/>
                </a:moveTo>
                <a:lnTo>
                  <a:pt x="2752039" y="0"/>
                </a:lnTo>
                <a:lnTo>
                  <a:pt x="2752039" y="1441380"/>
                </a:lnTo>
                <a:lnTo>
                  <a:pt x="0" y="144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33555" y="1849454"/>
            <a:ext cx="7139865" cy="7476298"/>
          </a:xfrm>
          <a:custGeom>
            <a:avLst/>
            <a:gdLst/>
            <a:ahLst/>
            <a:cxnLst/>
            <a:rect l="l" t="t" r="r" b="b"/>
            <a:pathLst>
              <a:path w="7139865" h="7476298">
                <a:moveTo>
                  <a:pt x="0" y="0"/>
                </a:moveTo>
                <a:lnTo>
                  <a:pt x="7139865" y="0"/>
                </a:lnTo>
                <a:lnTo>
                  <a:pt x="7139865" y="7476298"/>
                </a:lnTo>
                <a:lnTo>
                  <a:pt x="0" y="7476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761212" y="5823278"/>
            <a:ext cx="2096726" cy="1645930"/>
          </a:xfrm>
          <a:custGeom>
            <a:avLst/>
            <a:gdLst/>
            <a:ahLst/>
            <a:cxnLst/>
            <a:rect l="l" t="t" r="r" b="b"/>
            <a:pathLst>
              <a:path w="2096726" h="1645930">
                <a:moveTo>
                  <a:pt x="0" y="0"/>
                </a:moveTo>
                <a:lnTo>
                  <a:pt x="2096726" y="0"/>
                </a:lnTo>
                <a:lnTo>
                  <a:pt x="2096726" y="1645929"/>
                </a:lnTo>
                <a:lnTo>
                  <a:pt x="0" y="16459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644449" y="3425152"/>
            <a:ext cx="3146344" cy="1747969"/>
          </a:xfrm>
          <a:custGeom>
            <a:avLst/>
            <a:gdLst/>
            <a:ahLst/>
            <a:cxnLst/>
            <a:rect l="l" t="t" r="r" b="b"/>
            <a:pathLst>
              <a:path w="3146344" h="1747969">
                <a:moveTo>
                  <a:pt x="0" y="0"/>
                </a:moveTo>
                <a:lnTo>
                  <a:pt x="3146344" y="0"/>
                </a:lnTo>
                <a:lnTo>
                  <a:pt x="3146344" y="1747968"/>
                </a:lnTo>
                <a:lnTo>
                  <a:pt x="0" y="17479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053342" y="6631229"/>
            <a:ext cx="2328558" cy="406399"/>
          </a:xfrm>
          <a:custGeom>
            <a:avLst/>
            <a:gdLst/>
            <a:ahLst/>
            <a:cxnLst/>
            <a:rect l="l" t="t" r="r" b="b"/>
            <a:pathLst>
              <a:path w="2328558" h="406399">
                <a:moveTo>
                  <a:pt x="0" y="0"/>
                </a:moveTo>
                <a:lnTo>
                  <a:pt x="2328558" y="0"/>
                </a:lnTo>
                <a:lnTo>
                  <a:pt x="2328558" y="406399"/>
                </a:lnTo>
                <a:lnTo>
                  <a:pt x="0" y="4063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259607" y="7469207"/>
            <a:ext cx="1487762" cy="1272963"/>
          </a:xfrm>
          <a:custGeom>
            <a:avLst/>
            <a:gdLst/>
            <a:ahLst/>
            <a:cxnLst/>
            <a:rect l="l" t="t" r="r" b="b"/>
            <a:pathLst>
              <a:path w="1487762" h="1272963">
                <a:moveTo>
                  <a:pt x="0" y="0"/>
                </a:moveTo>
                <a:lnTo>
                  <a:pt x="1487762" y="0"/>
                </a:lnTo>
                <a:lnTo>
                  <a:pt x="1487762" y="1272964"/>
                </a:lnTo>
                <a:lnTo>
                  <a:pt x="0" y="12729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013962" y="1547020"/>
            <a:ext cx="7407263" cy="7994649"/>
          </a:xfrm>
          <a:custGeom>
            <a:avLst/>
            <a:gdLst/>
            <a:ahLst/>
            <a:cxnLst/>
            <a:rect l="l" t="t" r="r" b="b"/>
            <a:pathLst>
              <a:path w="7407263" h="7994649">
                <a:moveTo>
                  <a:pt x="0" y="0"/>
                </a:moveTo>
                <a:lnTo>
                  <a:pt x="7407263" y="0"/>
                </a:lnTo>
                <a:lnTo>
                  <a:pt x="7407263" y="7994649"/>
                </a:lnTo>
                <a:lnTo>
                  <a:pt x="0" y="79946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25921" b="-5578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 - </a:t>
              </a:r>
              <a:r>
                <a:rPr lang="en-US" sz="1800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TeamXOR</a:t>
              </a:r>
              <a:endPara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TeamXOR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905000" y="1433044"/>
            <a:ext cx="8822150" cy="8108625"/>
          </a:xfrm>
          <a:custGeom>
            <a:avLst/>
            <a:gdLst/>
            <a:ahLst/>
            <a:cxnLst/>
            <a:rect l="l" t="t" r="r" b="b"/>
            <a:pathLst>
              <a:path w="8822150" h="8108625">
                <a:moveTo>
                  <a:pt x="0" y="0"/>
                </a:moveTo>
                <a:lnTo>
                  <a:pt x="8822150" y="0"/>
                </a:lnTo>
                <a:lnTo>
                  <a:pt x="8822150" y="8108625"/>
                </a:lnTo>
                <a:lnTo>
                  <a:pt x="0" y="810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293" b="-4210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356563" y="1519552"/>
            <a:ext cx="7931437" cy="644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fully tested, CPU-only 12-service prototype successfully meets all architectural constraints with high-accuracy models and verified live capture capabilities.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→ strategies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hurdles like spoofed attacks, link overruns, and data limitations are actively mitigated using entropy tracking, kernel-level optimizations, hybrid model balancing, and targeted retraining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 - </a:t>
              </a:r>
              <a:r>
                <a:rPr lang="en-US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TeamXOR</a:t>
              </a:r>
              <a:endParaRPr lang="en-US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TeamXOR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9552271" y="2683006"/>
            <a:ext cx="7707029" cy="5979346"/>
          </a:xfrm>
          <a:custGeom>
            <a:avLst/>
            <a:gdLst/>
            <a:ahLst/>
            <a:cxnLst/>
            <a:rect l="l" t="t" r="r" b="b"/>
            <a:pathLst>
              <a:path w="7707029" h="5979346">
                <a:moveTo>
                  <a:pt x="0" y="0"/>
                </a:moveTo>
                <a:lnTo>
                  <a:pt x="7707029" y="0"/>
                </a:lnTo>
                <a:lnTo>
                  <a:pt x="7707029" y="5979346"/>
                </a:lnTo>
                <a:lnTo>
                  <a:pt x="0" y="5979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487" b="-864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75612" y="2228850"/>
            <a:ext cx="8685904" cy="702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endParaRPr/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Audience: </a:t>
            </a:r>
          </a:p>
          <a:p>
            <a:pPr marL="626123" lvl="1" indent="-313062" algn="l">
              <a:lnSpc>
                <a:spcPts val="348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critical-infrastructure operators, NTRO / national CERT, SOC &amp; OT analysts.</a:t>
            </a:r>
          </a:p>
          <a:p>
            <a:pPr marL="626123" lvl="1" indent="-313062" algn="l">
              <a:lnSpc>
                <a:spcPts val="348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Closes the blind spot — detection where you cannot probe back; near real-time, fully auditable alerts.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Benefits:</a:t>
            </a:r>
          </a:p>
          <a:p>
            <a:pPr marL="626123" lvl="1" indent="-313062" algn="l">
              <a:lnSpc>
                <a:spcPts val="348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IT + OT threats (Modbus/DNP3/EtherNet-IP, lateral movement, Kerberoasting, brute force) from one passive tap.</a:t>
            </a:r>
          </a:p>
          <a:p>
            <a:pPr marL="626123" lvl="1" indent="-313062" algn="l">
              <a:lnSpc>
                <a:spcPts val="348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Economic: commodity CPU + open-source; no per-sensor licensing.</a:t>
            </a:r>
          </a:p>
          <a:p>
            <a:pPr marL="626123" lvl="1" indent="-313062" algn="l">
              <a:lnSpc>
                <a:spcPts val="348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/ national: one dashboard &amp; schema across all modes; indigenous, inspectable, explainable capability.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19099" y="1812560"/>
            <a:ext cx="16780751" cy="754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41"/>
              </a:lnSpc>
            </a:pPr>
            <a:endParaRPr dirty="0"/>
          </a:p>
          <a:p>
            <a:pPr algn="just">
              <a:lnSpc>
                <a:spcPts val="3119"/>
              </a:lnSpc>
            </a:pPr>
            <a:r>
              <a:rPr lang="en-US" sz="25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Datasets:</a:t>
            </a:r>
          </a:p>
          <a:p>
            <a:pPr algn="just">
              <a:lnSpc>
                <a:spcPts val="2741"/>
              </a:lnSpc>
            </a:pPr>
            <a:endParaRPr lang="en-US" sz="259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DGA / DNS — 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chrmor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DGA_domains_dataset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Netlab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360 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OpenData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github.com/chrmor/DGA_domains_dataset"/>
              </a:rPr>
              <a:t>Github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github.com/chrmor/DGA_domains_dataset"/>
              </a:rPr>
              <a:t> Link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/ DDoS  — 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StopDDoS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/packet-captures: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Link 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 upgrade path: CICIDS2017 (UNB CIC):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www.unb.ca/cic/datasets/ids-2017.html"/>
              </a:rPr>
              <a:t>University of New Brunswick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 / Modbus — ITI/ICS-Security-Tools: 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github.com/ITI/ICS-Security-Tools"/>
              </a:rPr>
              <a:t>Github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github.com/ITI/ICS-Security-Tools"/>
              </a:rPr>
              <a:t> Link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 upgrade path: CIC Modbus 2023 (UNB):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www.unb.ca/cic/datasets/modbus-2023.html"/>
              </a:rPr>
              <a:t>University of New Brunswick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TLS / JA4 — no public labelled set; planned self-generation.</a:t>
            </a:r>
          </a:p>
          <a:p>
            <a:pPr algn="just">
              <a:lnSpc>
                <a:spcPts val="2741"/>
              </a:lnSpc>
            </a:pPr>
            <a:endParaRPr lang="en-US" sz="22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Tools &amp; frameworks: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Zeek: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Z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eek.org 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 ICSNPP (CISA): 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github.com/cisagov/ICSNPP"/>
              </a:rPr>
              <a:t>Github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github.com/cisagov/ICSNPP"/>
              </a:rPr>
              <a:t> Link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Suricata: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suricata.io"/>
              </a:rPr>
              <a:t>Suricata.io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Emerging Threats Open: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 tooltip="https://rules.emergingthreats.net"/>
              </a:rPr>
              <a:t>rules.emergingthreats.net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YARA: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3" tooltip="https://virustotal.github.io/yara/"/>
              </a:rPr>
              <a:t>Virustotal.Github.io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MITRE BZAR: 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4" tooltip="https://github.com/mitre-attack/bzar"/>
              </a:rPr>
              <a:t>Github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4" tooltip="https://github.com/mitre-attack/bzar"/>
              </a:rPr>
              <a:t> Link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 JA4 spec/intel (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FoxIO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5" tooltip="https://github.com/FoxIO-LLC/ja4"/>
              </a:rPr>
              <a:t>Github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5" tooltip="https://github.com/FoxIO-LLC/ja4"/>
              </a:rPr>
              <a:t> Link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ONNX Runtime: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6" tooltip="https://onnxruntime.ai"/>
              </a:rPr>
              <a:t>onnxruntime.ai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en-US" sz="22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7" tooltip="https://xgboost.ai"/>
              </a:rPr>
              <a:t>xgboost.ai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scikit-learn: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8" tooltip="https://scikit-learn.org"/>
              </a:rPr>
              <a:t>scikit-learn.org</a:t>
            </a:r>
          </a:p>
          <a:p>
            <a:pPr algn="just">
              <a:lnSpc>
                <a:spcPts val="2741"/>
              </a:lnSpc>
            </a:pPr>
            <a:endParaRPr lang="en-US" sz="2299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18" tooltip="https://scikit-learn.org"/>
            </a:endParaRPr>
          </a:p>
          <a:p>
            <a:pPr algn="just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Standards: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MITRE ATT&amp;CK: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9" tooltip="https://attack.mitre.org"/>
              </a:rPr>
              <a:t>Attack.mitre.org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ATT&amp;CK for ICS: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0" tooltip="https://attack.mitre.org/matrices/ics/"/>
              </a:rPr>
              <a:t>ttack.mitre.org/matrices/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0" tooltip="https://attack.mitre.org/matrices/ics/"/>
              </a:rPr>
              <a:t>ics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0" tooltip="https://attack.mitre.org/matrices/ics/"/>
              </a:rPr>
              <a:t>/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NIST SP 800-82 Rev.3 (OT Security):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1" tooltip="https://doi.org/10.6028/NIST.SP.800-82r3"/>
              </a:rPr>
              <a:t>Doi.org/10.6028/NIST.SP.800-82r3</a:t>
            </a: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1815 (DNP3):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https://standards.ieee.org/ieee/1815/5414/</a:t>
            </a:r>
            <a:endParaRPr lang="en-US" sz="2299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6242" lvl="1" indent="-208121" algn="just">
              <a:lnSpc>
                <a:spcPts val="275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Modbus spec: </a:t>
            </a:r>
            <a:r>
              <a:rPr lang="en-US" sz="2299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3" tooltip="https://modbus.org/specs.php"/>
              </a:rPr>
              <a:t>Modbus.org/</a:t>
            </a:r>
            <a:r>
              <a:rPr lang="en-US" sz="2299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3" tooltip="https://modbus.org/specs.php"/>
              </a:rPr>
              <a:t>specs.php</a:t>
            </a:r>
            <a:endParaRPr lang="en-US" sz="2299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23" tooltip="https://modbus.org/specs.php"/>
            </a:endParaRPr>
          </a:p>
          <a:p>
            <a:pPr algn="just">
              <a:lnSpc>
                <a:spcPts val="2741"/>
              </a:lnSpc>
            </a:pPr>
            <a:endParaRPr lang="en-US" sz="2299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23" tooltip="https://modbus.org/specs.php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 - </a:t>
              </a:r>
              <a:r>
                <a:rPr lang="en-US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TeamXOR</a:t>
              </a:r>
              <a:endParaRPr lang="en-US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TeamXOR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572</Words>
  <Application>Microsoft Office PowerPoint</Application>
  <PresentationFormat>Custom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Garamond Bold</vt:lpstr>
      <vt:lpstr>Calibri</vt:lpstr>
      <vt:lpstr>Calibri (MS) Bold</vt:lpstr>
      <vt:lpstr>Times New Roman Bold</vt:lpstr>
      <vt:lpstr>Arimo</vt:lpstr>
      <vt:lpstr>Arial Bold</vt:lpstr>
      <vt:lpstr>Arimo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Admin</dc:creator>
  <cp:lastModifiedBy>sardhak ramavath</cp:lastModifiedBy>
  <cp:revision>2</cp:revision>
  <dcterms:created xsi:type="dcterms:W3CDTF">2006-08-16T00:00:00Z</dcterms:created>
  <dcterms:modified xsi:type="dcterms:W3CDTF">2026-09-10T22:02:01Z</dcterms:modified>
  <dc:identifier>DAHUwuhHO6k</dc:identifier>
</cp:coreProperties>
</file>